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DroidDrop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BBDEFB"/>
                </a:solidFill>
                <a:latin typeface="Calibri"/>
              </a:defRPr>
            </a:pPr>
            <a:r>
              <a:t>Peer-to-Peer File Sharing &amp; Chat for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4043"/>
                </a:solidFill>
                <a:latin typeface="Calibri"/>
              </a:defRPr>
            </a:pPr>
            <a:r>
              <a:t>CSCI3310 Mobile Computing  |  Spring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340864" cy="41148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407408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Nearby 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4389120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9584" y="4407408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4389120"/>
            <a:ext cx="1243584" cy="41148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4407408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OSMDroid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389120"/>
            <a:ext cx="2231136" cy="41148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44074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Material Design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8" y="4389120"/>
            <a:ext cx="804672" cy="41148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9368" y="4407408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Calibri"/>
              </a:defRPr>
            </a:pPr>
            <a:r>
              <a:t>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F6368"/>
                </a:solidFill>
                <a:latin typeface="Calibri"/>
              </a:defRPr>
            </a:pPr>
            <a:r>
              <a:t>MVC Pattern  |  Callback Interfaces  |  Event-Driven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A73E8"/>
                </a:solidFill>
                <a:latin typeface="Calibri"/>
              </a:defRPr>
            </a:pPr>
            <a:r>
              <a:t>P2P Chat &amp;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Google Nearby Connections API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P2P_CLUSTER strategy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BYTES + FILE payloads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Device discovery &amp; advertising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54864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5C6BC0"/>
                </a:solidFill>
                <a:latin typeface="Calibri"/>
              </a:defRPr>
            </a:pPr>
            <a:r>
              <a:t>Cloud Shared Drive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Firebase Cloud Storage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Cloud Firestore (real-time)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Snapshot listeners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Upload / Download / 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897B"/>
                </a:solidFill>
                <a:latin typeface="Calibri"/>
              </a:defRPr>
            </a:pPr>
            <a:r>
              <a:t>Offline Map &amp;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65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OSMDroid (OpenStreetMap)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OSRM walking routes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GPS location sharing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400">
                <a:solidFill>
                  <a:srgbClr val="3C4043"/>
                </a:solidFill>
                <a:latin typeface="Calibri"/>
              </a:rPr>
              <a:t>FusedLocationProviderClient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11247120" cy="594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53079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Calibri"/>
              </a:defRPr>
            </a:pPr>
            <a:r>
              <a:rPr dirty="0"/>
              <a:t>Java  |  Min SDK 24  |  Target SDK 36  |  play-services-nearby 18.7.0  |  Firebase BOM  |  </a:t>
            </a:r>
            <a:r>
              <a:rPr dirty="0" err="1"/>
              <a:t>OSMDroid</a:t>
            </a:r>
            <a:r>
              <a:rPr dirty="0"/>
              <a:t>  |  Material 3  |  Lifecycle-Aware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124712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42A"/>
                </a:solidFill>
                <a:latin typeface="Calibri"/>
              </a:defRPr>
            </a:pPr>
            <a:r>
              <a:t>Class Hierarchy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0789920" cy="91440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104241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 err="1">
                <a:solidFill>
                  <a:srgbClr val="267F99"/>
                </a:solidFill>
                <a:latin typeface="Consolas"/>
              </a:rPr>
              <a:t>MainActivity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AppCompatActivity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98658"/>
                </a:solidFill>
                <a:latin typeface="Consolas"/>
              </a:rPr>
              <a:t>5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Fragments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+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98658"/>
                </a:solidFill>
                <a:latin typeface="Consolas"/>
              </a:rPr>
              <a:t>4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Adapters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 err="1">
                <a:solidFill>
                  <a:srgbClr val="267F99"/>
                </a:solidFill>
                <a:latin typeface="Consolas"/>
              </a:rPr>
              <a:t>NearbyConnectionsManager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TransferEventBus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>
                <a:solidFill>
                  <a:srgbClr val="098658"/>
                </a:solidFill>
                <a:latin typeface="Consolas"/>
              </a:rPr>
              <a:t>3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callback interfaces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 err="1">
                <a:solidFill>
                  <a:srgbClr val="267F99"/>
                </a:solidFill>
                <a:latin typeface="Consolas"/>
              </a:rPr>
              <a:t>FileTransferService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LifecycleService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|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SharedDriveRepository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Firebase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098658"/>
                </a:solidFill>
                <a:latin typeface="Consolas"/>
              </a:rPr>
              <a:t>5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Models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: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DeviceInfo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FileMetadata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Parcelable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),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TransferProgress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Parcelable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),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ChatMessage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SharedFile</a:t>
            </a:r>
            <a:endParaRPr sz="1200" b="0" dirty="0">
              <a:solidFill>
                <a:srgbClr val="267F99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Activities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15568"/>
            <a:ext cx="54864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Calibri"/>
              </a:defRPr>
            </a:pPr>
            <a:r>
              <a:t>MainActivity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120640" cy="128016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3440" y="1667882"/>
            <a:ext cx="4589868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 dirty="0">
                <a:solidFill>
                  <a:srgbClr val="AF00DB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MainActivity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extends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AppCompatActivity</a:t>
            </a:r>
            <a:endParaRPr sz="1100" b="0" dirty="0">
              <a:solidFill>
                <a:srgbClr val="267F99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implements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ConnectionListener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      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TransferListener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      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ChatListener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      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OnFileSavedCallback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      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ChatFileReceivedCallback</a:t>
            </a:r>
            <a:endParaRPr sz="1100" b="0" dirty="0">
              <a:solidFill>
                <a:srgbClr val="267F99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42A"/>
                </a:solidFill>
                <a:latin typeface="Calibri"/>
              </a:defRPr>
            </a:pPr>
            <a:r>
              <a:t>Key Techniques: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FragmentContainerView + BottomNavigationView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ActivityResultLauncher (permissions &amp; file picker)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FusedLocationProviderClient (GPS location)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SharedPreferences (device name persistence)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AlertDialog (chat invitations)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configChanges (survive rotation)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Intent.ACTION_SEND (cross-app share)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5394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97B"/>
                </a:solidFill>
                <a:latin typeface="Calibri"/>
              </a:defRPr>
            </a:pPr>
            <a:r>
              <a:t>MapActivity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5120640" cy="45720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75564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AF00DB"/>
                </a:solidFill>
                <a:latin typeface="Consolas"/>
              </a:rPr>
              <a:t>public</a:t>
            </a: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  <a:r>
              <a:rPr sz="1200" b="1">
                <a:solidFill>
                  <a:srgbClr val="AF00DB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>
                <a:solidFill>
                  <a:srgbClr val="267F99"/>
                </a:solidFill>
                <a:latin typeface="Consolas"/>
              </a:rPr>
              <a:t>MapActivity</a:t>
            </a: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  <a:r>
              <a:rPr sz="12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200" b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>
                <a:solidFill>
                  <a:srgbClr val="267F99"/>
                </a:solidFill>
                <a:latin typeface="Consolas"/>
              </a:rPr>
              <a:t>AppCompatActivity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42A"/>
                </a:solidFill>
                <a:latin typeface="Calibri"/>
              </a:defRPr>
            </a:pPr>
            <a:r>
              <a:t>Key Techniques: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OSMDroid MapView (OpenStreetMap tiles)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MyLocationNewOverlay (current GPS position)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GpsMyLocationProvider (location updates)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Marker overlay (shared location pins)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Polyline overlay (walking route)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OSRM public API (route calculation)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HttpURLConnection (network calls)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ExecutorService (background thread)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JSONObject / JSONArray (route parsing)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300">
                <a:solidFill>
                  <a:srgbClr val="3C4043"/>
                </a:solidFill>
                <a:latin typeface="Calibri"/>
              </a:rPr>
              <a:t>Intent extras (EXTRA_LAT, EXTRA_LNG)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Fragments (5)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Calibri"/>
              </a:defRPr>
            </a:pPr>
            <a:r>
              <a:t>All extend Fragment  |  Managed via FragmentManager + back stack  |  Arguments via Bundle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457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C6BC0"/>
                </a:solidFill>
                <a:latin typeface="Calibri"/>
              </a:defRPr>
            </a:pPr>
            <a:r>
              <a:t>FileListFragment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Shared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RecyclerView + FileListAdapter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Firestore ListenerRegistration (real-time)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14016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FloatingActionButton (file picker)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60904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onDestroyView removes listener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325880"/>
            <a:ext cx="39319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325880"/>
            <a:ext cx="393192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t>ChatRoomFragment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733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Chat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20240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RecyclerView + ChatAdapter (2 view types)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67128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MediaRecorder (voice, audio/mp4)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14016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MediaPlayer (playback, prepareAsync)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660904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Inline ImageView (thumbnails)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907792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Location sharing + file attach buttons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54680"/>
            <a:ext cx="3611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Connection status banner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1325880"/>
            <a:ext cx="365760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0" y="1325880"/>
            <a:ext cx="3657600" cy="45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97B"/>
                </a:solidFill>
                <a:latin typeface="Calibri"/>
              </a:defRPr>
            </a:pPr>
            <a:r>
              <a:t>ChatDeviceListFragment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6733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Chat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92024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Dual RecyclerView layout: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167128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  DeviceAdapter (live devices)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414016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  HistoryPeerAdapter (past chats)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660904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ChatHistoryManager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907792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'Connect' on online history peers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3886200"/>
            <a:ext cx="562356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886200"/>
            <a:ext cx="562356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397764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C00"/>
                </a:solidFill>
                <a:latin typeface="Calibri"/>
              </a:defRPr>
            </a:pPr>
            <a:r>
              <a:t>DeviceDiscoveryFragment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33672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File Transfer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48056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RecyclerView + DeviceAdapter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2744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ProgressBar (transfer progress)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97433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Device click triggers file send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886200"/>
            <a:ext cx="580644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26480" y="3886200"/>
            <a:ext cx="5806440" cy="4572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39776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D1457"/>
                </a:solidFill>
                <a:latin typeface="Calibri"/>
              </a:defRPr>
            </a:pPr>
            <a:r>
              <a:t>SendModeFragment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233672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Firebase Upload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4805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Firebase upload with progress bar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7274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ActivityResultLauncher (file picker)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9743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alibri"/>
              </a:defRPr>
            </a:pPr>
            <a:r>
              <a:t>▸  File metadata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Nearby Connections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t>NearbyConnectionsManager.java  |  Strategy: P2P_CLUSTER  |  Service ID: com.example.dropdroid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566928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66928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Calibri"/>
              </a:defRPr>
            </a:pPr>
            <a:r>
              <a:t>Core API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onsolas"/>
              </a:defRPr>
            </a:pPr>
            <a:r>
              <a:rPr dirty="0" err="1"/>
              <a:t>startAdvertising</a:t>
            </a:r>
            <a:r>
              <a:rPr dirty="0"/>
              <a:t>() / </a:t>
            </a:r>
            <a:r>
              <a:rPr dirty="0" err="1"/>
              <a:t>startDiscovery</a:t>
            </a:r>
            <a:r>
              <a:rPr dirty="0"/>
              <a:t>()</a:t>
            </a:r>
            <a:br>
              <a:rPr dirty="0"/>
            </a:br>
            <a:r>
              <a:rPr dirty="0" err="1"/>
              <a:t>ConnectionsClient</a:t>
            </a:r>
            <a:r>
              <a:rPr dirty="0"/>
              <a:t> from </a:t>
            </a:r>
            <a:r>
              <a:rPr dirty="0" err="1"/>
              <a:t>Nearby.getConnectionsClient</a:t>
            </a:r>
            <a:r>
              <a:rPr dirty="0"/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060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onsolas"/>
              </a:defRPr>
            </a:pPr>
            <a:r>
              <a:rPr dirty="0" err="1"/>
              <a:t>requestConnection</a:t>
            </a:r>
            <a:r>
              <a:rPr dirty="0"/>
              <a:t>() / </a:t>
            </a:r>
            <a:r>
              <a:rPr dirty="0" err="1"/>
              <a:t>acceptConnection</a:t>
            </a:r>
            <a:r>
              <a:rPr dirty="0"/>
              <a:t>()</a:t>
            </a:r>
            <a:br>
              <a:rPr dirty="0"/>
            </a:br>
            <a:r>
              <a:rPr dirty="0" err="1"/>
              <a:t>ConnectionLifecycleCallback</a:t>
            </a:r>
            <a:r>
              <a:rPr dirty="0"/>
              <a:t> (initiate, result, disconnect)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Chat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3832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onsolas"/>
              </a:defRPr>
            </a:pPr>
            <a:r>
              <a:rPr dirty="0" err="1"/>
              <a:t>Payload.fromBytes</a:t>
            </a:r>
            <a:r>
              <a:rPr dirty="0"/>
              <a:t>("</a:t>
            </a:r>
            <a:r>
              <a:rPr dirty="0" err="1"/>
              <a:t>CHAT|sender|ts|text</a:t>
            </a:r>
            <a:r>
              <a:rPr dirty="0"/>
              <a:t>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23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0233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onsolas"/>
              </a:defRPr>
            </a:pPr>
            <a:r>
              <a:rPr dirty="0" err="1"/>
              <a:t>Payload.fromBytes</a:t>
            </a:r>
            <a:r>
              <a:rPr dirty="0"/>
              <a:t>("</a:t>
            </a:r>
            <a:r>
              <a:rPr dirty="0" err="1"/>
              <a:t>LOCATION|sender|ts|lat|lng</a:t>
            </a:r>
            <a:r>
              <a:rPr dirty="0"/>
              <a:t>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Chat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5738" y="4663440"/>
            <a:ext cx="40864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onsolas"/>
              </a:defRPr>
            </a:pPr>
            <a:r>
              <a:rPr dirty="0" err="1"/>
              <a:t>Payload.fromBytes</a:t>
            </a:r>
            <a:r>
              <a:rPr dirty="0"/>
              <a:t>("</a:t>
            </a:r>
            <a:r>
              <a:rPr dirty="0" err="1"/>
              <a:t>CHATFILE|sender|name|mime|size</a:t>
            </a:r>
            <a:r>
              <a:rPr dirty="0"/>
              <a:t>|"</a:t>
            </a:r>
            <a:br>
              <a:rPr dirty="0"/>
            </a:br>
            <a:r>
              <a:rPr dirty="0"/>
              <a:t>    + </a:t>
            </a:r>
            <a:r>
              <a:rPr dirty="0" err="1"/>
              <a:t>rawBytes</a:t>
            </a:r>
            <a:r>
              <a:rPr dirty="0"/>
              <a:t>)  // BYTES workaround for API 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40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  <a:latin typeface="Calibri"/>
              </a:defRPr>
            </a:pPr>
            <a:r>
              <a:t>Callbacks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440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4043"/>
                </a:solidFill>
                <a:latin typeface="Consolas"/>
              </a:defRPr>
            </a:pPr>
            <a:r>
              <a:t>EndpointDiscoveryCallback (found / lost)</a:t>
            </a:r>
            <a:br/>
            <a:r>
              <a:t>PayloadCallback (received / transferUpdate)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25880"/>
            <a:ext cx="548640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4864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Wire Protocols (all BYTES payloads)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828800"/>
            <a:ext cx="5120640" cy="173736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938528"/>
            <a:ext cx="475488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6A9955"/>
                </a:solidFill>
                <a:latin typeface="Consolas"/>
              </a:rPr>
              <a:t>// Text message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A31115"/>
                </a:solidFill>
                <a:latin typeface="Consolas"/>
              </a:rPr>
              <a:t>"</a:t>
            </a:r>
            <a:r>
              <a:rPr sz="1200" b="0" dirty="0" err="1">
                <a:solidFill>
                  <a:srgbClr val="A31115"/>
                </a:solidFill>
                <a:latin typeface="Consolas"/>
              </a:rPr>
              <a:t>CHAT|senderName|timestamp|messageText</a:t>
            </a:r>
            <a:r>
              <a:rPr sz="1200" b="0" dirty="0">
                <a:solidFill>
                  <a:srgbClr val="A31115"/>
                </a:solidFill>
                <a:latin typeface="Consolas"/>
              </a:rPr>
              <a:t>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6A9955"/>
                </a:solidFill>
                <a:latin typeface="Consolas"/>
              </a:rPr>
              <a:t>// GPS location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A31115"/>
                </a:solidFill>
                <a:latin typeface="Consolas"/>
              </a:rPr>
              <a:t>"</a:t>
            </a:r>
            <a:r>
              <a:rPr sz="1200" b="0" dirty="0" err="1">
                <a:solidFill>
                  <a:srgbClr val="A31115"/>
                </a:solidFill>
                <a:latin typeface="Consolas"/>
              </a:rPr>
              <a:t>LOCATION|senderName|timestamp|lat|lng</a:t>
            </a:r>
            <a:r>
              <a:rPr sz="1200" b="0" dirty="0">
                <a:solidFill>
                  <a:srgbClr val="A31115"/>
                </a:solidFill>
                <a:latin typeface="Consolas"/>
              </a:rPr>
              <a:t>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6A9955"/>
                </a:solidFill>
                <a:latin typeface="Consolas"/>
              </a:rPr>
              <a:t>// File (image, voice, etc.)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A31115"/>
                </a:solidFill>
                <a:latin typeface="Consolas"/>
              </a:rPr>
              <a:t>"</a:t>
            </a:r>
            <a:r>
              <a:rPr sz="1200" b="0" dirty="0" err="1">
                <a:solidFill>
                  <a:srgbClr val="A31115"/>
                </a:solidFill>
                <a:latin typeface="Consolas"/>
              </a:rPr>
              <a:t>CHATFILE|senderName|fileName|mimeType|fileSize</a:t>
            </a:r>
            <a:r>
              <a:rPr sz="1200" b="0" dirty="0">
                <a:solidFill>
                  <a:srgbClr val="A31115"/>
                </a:solidFill>
                <a:latin typeface="Consolas"/>
              </a:rPr>
              <a:t>|"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+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[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raw file bytes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023360"/>
            <a:ext cx="5486400" cy="2423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548640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C00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0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discoveredDevices / connectedDevices maps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sendingFiles + openPfds (send-side tracking)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pendingReceiveMeta + pendingReceivePayloads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chatModeActive flag (invitation vs auto-accept)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ExecutorService for background file I/O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Handler(MainLooper) for UI-thread callbacks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Event Bus &amp; Callback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t>TransferEventBus.java  |  Decouples Network layer from UI layer  |  Observer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37033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0332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73E8"/>
                </a:solidFill>
                <a:latin typeface="Calibri"/>
              </a:defRPr>
            </a:pPr>
            <a:r>
              <a:t>ConnectionListener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3520440" cy="242316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324612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 dirty="0">
                <a:solidFill>
                  <a:srgbClr val="AF00DB"/>
                </a:solidFill>
                <a:latin typeface="Consolas"/>
              </a:rPr>
              <a:t>interface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267F99"/>
                </a:solidFill>
                <a:latin typeface="Consolas"/>
              </a:rPr>
              <a:t>ConnectionListener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onDevicesUpdated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900" b="0" dirty="0">
                <a:solidFill>
                  <a:srgbClr val="267F99"/>
                </a:solidFill>
                <a:latin typeface="Consolas"/>
              </a:rPr>
              <a:t>List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&lt;</a:t>
            </a:r>
            <a:r>
              <a:rPr sz="900" b="0" dirty="0" err="1">
                <a:solidFill>
                  <a:srgbClr val="267F99"/>
                </a:solidFill>
                <a:latin typeface="Consolas"/>
              </a:rPr>
              <a:t>DeviceInfo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devices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onConnectionEstablished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900" b="0" dirty="0" err="1">
                <a:solidFill>
                  <a:srgbClr val="267F99"/>
                </a:solidFill>
                <a:latin typeface="Consolas"/>
              </a:rPr>
              <a:t>DeviceInfo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device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onConnectionFailed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String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reason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onDisconnected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String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endpointId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onChatInvitationReceived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333333"/>
                </a:solidFill>
                <a:latin typeface="Consolas"/>
              </a:rPr>
              <a:t>        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String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endpointId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1" dirty="0">
                <a:solidFill>
                  <a:srgbClr val="AF00DB"/>
                </a:solidFill>
                <a:latin typeface="Consolas"/>
              </a:rPr>
              <a:t>String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deviceName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25880"/>
            <a:ext cx="37033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325880"/>
            <a:ext cx="3703320" cy="45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97B"/>
                </a:solidFill>
                <a:latin typeface="Calibri"/>
              </a:defRPr>
            </a:pPr>
            <a:r>
              <a:t>TransferListener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627" y="1737360"/>
            <a:ext cx="3520440" cy="242316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93170"/>
            <a:ext cx="3154680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 dirty="0">
                <a:solidFill>
                  <a:srgbClr val="AF00DB"/>
                </a:solidFill>
                <a:latin typeface="Consolas"/>
              </a:rPr>
              <a:t>interface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TransferListener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onIncomingFile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FileMetadata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meta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fromDeviceName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onTransferProgressUpdated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TransferProgress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progress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onTransferCompleted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TransferProgress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finalProgress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void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onTransferFailed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Consolas"/>
              </a:rPr>
              <a:t>fileName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error</a:t>
            </a:r>
            <a:r>
              <a:rPr sz="1100" b="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70332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70332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ChatListener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783080"/>
            <a:ext cx="3520440" cy="242316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892808"/>
            <a:ext cx="3154680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AF00DB"/>
                </a:solidFill>
                <a:latin typeface="Consolas"/>
              </a:rPr>
              <a:t>interface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ChatListener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void</a:t>
            </a:r>
            <a:r>
              <a:rPr sz="1100" b="0">
                <a:solidFill>
                  <a:srgbClr val="333333"/>
                </a:solidFill>
                <a:latin typeface="Consolas"/>
              </a:rPr>
              <a:t> onChatMessageReceived</a:t>
            </a:r>
            <a:r>
              <a:rPr sz="1100" b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endpointId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senderName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text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long</a:t>
            </a:r>
            <a:r>
              <a:rPr sz="1100" b="0">
                <a:solidFill>
                  <a:srgbClr val="333333"/>
                </a:solidFill>
                <a:latin typeface="Consolas"/>
              </a:rPr>
              <a:t> timestamp</a:t>
            </a:r>
            <a:r>
              <a:rPr sz="1100" b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void</a:t>
            </a:r>
            <a:r>
              <a:rPr sz="1100" b="0">
                <a:solidFill>
                  <a:srgbClr val="333333"/>
                </a:solidFill>
                <a:latin typeface="Consolas"/>
              </a:rPr>
              <a:t> onLocationMessageReceived</a:t>
            </a:r>
            <a:r>
              <a:rPr sz="1100" b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endpointId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senderName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double</a:t>
            </a:r>
            <a:r>
              <a:rPr sz="1100" b="0">
                <a:solidFill>
                  <a:srgbClr val="333333"/>
                </a:solidFill>
                <a:latin typeface="Consolas"/>
              </a:rPr>
              <a:t> lat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double</a:t>
            </a:r>
            <a:r>
              <a:rPr sz="1100" b="0">
                <a:solidFill>
                  <a:srgbClr val="333333"/>
                </a:solidFill>
                <a:latin typeface="Consolas"/>
              </a:rPr>
              <a:t> lng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long</a:t>
            </a:r>
            <a:r>
              <a:rPr sz="1100" b="0">
                <a:solidFill>
                  <a:srgbClr val="333333"/>
                </a:solidFill>
                <a:latin typeface="Consolas"/>
              </a:rPr>
              <a:t> timestamp</a:t>
            </a:r>
            <a:r>
              <a:rPr sz="1100" b="0">
                <a:solidFill>
                  <a:srgbClr val="000000"/>
                </a:solidFill>
                <a:latin typeface="Consolas"/>
              </a:rPr>
              <a:t>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617720"/>
            <a:ext cx="114757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42A"/>
                </a:solidFill>
                <a:latin typeface="Calibri"/>
              </a:defRPr>
            </a:pPr>
            <a:r>
              <a:t>Integration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09960" cy="146304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3747" y="5070787"/>
            <a:ext cx="1074420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6A9955"/>
                </a:solidFill>
                <a:latin typeface="Consolas"/>
              </a:rPr>
              <a:t>// Device discovered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 err="1">
                <a:solidFill>
                  <a:srgbClr val="267F99"/>
                </a:solidFill>
                <a:latin typeface="Consolas"/>
              </a:rPr>
              <a:t>NearbyConnectionsManager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connectionListener</a:t>
            </a:r>
            <a:r>
              <a:rPr sz="9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onDevicesUpdated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()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267F99"/>
                </a:solidFill>
                <a:latin typeface="Consolas"/>
              </a:rPr>
              <a:t>DeviceAdapter</a:t>
            </a:r>
            <a:endParaRPr sz="900" b="0" dirty="0">
              <a:solidFill>
                <a:srgbClr val="267F99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6A9955"/>
                </a:solidFill>
                <a:latin typeface="Consolas"/>
              </a:rPr>
              <a:t>// User taps device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 err="1">
                <a:solidFill>
                  <a:srgbClr val="333333"/>
                </a:solidFill>
                <a:latin typeface="Consolas"/>
              </a:rPr>
              <a:t>nearbyMgr</a:t>
            </a:r>
            <a:r>
              <a:rPr sz="9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connectToDevice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()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onConnectionEstablished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()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open </a:t>
            </a:r>
            <a:r>
              <a:rPr sz="900" b="0" dirty="0" err="1">
                <a:solidFill>
                  <a:srgbClr val="267F99"/>
                </a:solidFill>
                <a:latin typeface="Consolas"/>
              </a:rPr>
              <a:t>ChatRoomFragment</a:t>
            </a:r>
            <a:endParaRPr sz="900" b="0" dirty="0">
              <a:solidFill>
                <a:srgbClr val="267F99"/>
              </a:solidFill>
              <a:latin typeface="Consolas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6A9955"/>
                </a:solidFill>
                <a:latin typeface="Consolas"/>
              </a:rPr>
              <a:t>// User sends file (BYTES payload)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 err="1">
                <a:solidFill>
                  <a:srgbClr val="333333"/>
                </a:solidFill>
                <a:latin typeface="Consolas"/>
              </a:rPr>
              <a:t>nearbyMgr</a:t>
            </a:r>
            <a:r>
              <a:rPr sz="9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sendFileInChat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900" b="0" dirty="0">
                <a:solidFill>
                  <a:srgbClr val="267F99"/>
                </a:solidFill>
                <a:latin typeface="Consolas"/>
              </a:rPr>
              <a:t>BYTES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)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receiver</a:t>
            </a:r>
            <a:r>
              <a:rPr sz="9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handleChatFileBytes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()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save to cache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>
                <a:solidFill>
                  <a:srgbClr val="6A9955"/>
                </a:solidFill>
                <a:latin typeface="Consolas"/>
              </a:rPr>
              <a:t>// File saved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0" dirty="0" err="1">
                <a:solidFill>
                  <a:srgbClr val="267F99"/>
                </a:solidFill>
                <a:latin typeface="Consolas"/>
              </a:rPr>
              <a:t>ChatFileReceivedCallback</a:t>
            </a:r>
            <a:r>
              <a:rPr sz="9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onChatFileReceived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uri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meta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)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--&gt;</a:t>
            </a:r>
            <a:r>
              <a:rPr sz="9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900" b="0" dirty="0" err="1">
                <a:solidFill>
                  <a:srgbClr val="267F99"/>
                </a:solidFill>
                <a:latin typeface="Consolas"/>
              </a:rPr>
              <a:t>ChatAdapter</a:t>
            </a:r>
            <a:r>
              <a:rPr sz="9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900" b="0" dirty="0" err="1">
                <a:solidFill>
                  <a:srgbClr val="333333"/>
                </a:solidFill>
                <a:latin typeface="Consolas"/>
              </a:rPr>
              <a:t>updateMessageUri</a:t>
            </a:r>
            <a:r>
              <a:rPr sz="900" b="0" dirty="0">
                <a:solidFill>
                  <a:srgbClr val="000000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RecyclerView Adapters 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t>All extend RecyclerView.Adapter&lt;ViewHolder&gt;  |  ViewHolder pattern  |  Callback interfaces for clicks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57784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Calibri"/>
              </a:defRPr>
            </a:pPr>
            <a:r>
              <a:t>ChatAdapter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onsolas"/>
              </a:defRPr>
            </a:pPr>
            <a:r>
              <a:t>Layout: item_chat_message_sent.xml / received.xml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5623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2 view types: VIEW_TYPE_SENT / 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939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Supports TEXT, FILE, LOCATION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Inline ImageView for image thumbnails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946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MediaPlayer for voice playback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0720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Dialog for full-screen image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449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Open Map button for 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826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updateMessageUri() for deferred file URIs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SimpleDateFormat for timestamps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34440"/>
            <a:ext cx="557784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5577840" cy="45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307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Calibri"/>
              </a:defRPr>
            </a:pPr>
            <a:r>
              <a:t>DeviceAdapter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581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onsolas"/>
              </a:defRPr>
            </a:pPr>
            <a:r>
              <a:t>Layout: item_device.xml (MaterialCardView)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5623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Device name + connection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939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OnDeviceClickListener callback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317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Used in Discovery &amp; Chat device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6946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Chevron icon for visual affordance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023360"/>
            <a:ext cx="557784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023360"/>
            <a:ext cx="5577840" cy="457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096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C6BC0"/>
                </a:solidFill>
                <a:latin typeface="Calibri"/>
              </a:defRPr>
            </a:pPr>
            <a:r>
              <a:t>FileListAdapter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708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onsolas"/>
              </a:defRPr>
            </a:pPr>
            <a:r>
              <a:t>Layout: item_shared_file.xml (MaterialCardView)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File name, size, uploader, timestamp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828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OnFileActionListener (preview/download/delete)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Used in FileListFragment (Shared Drive)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5838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Firebase real-time data source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023360"/>
            <a:ext cx="557784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023360"/>
            <a:ext cx="557784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4096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C00"/>
                </a:solidFill>
                <a:latin typeface="Calibri"/>
              </a:defRPr>
            </a:pPr>
            <a:r>
              <a:t>HistoryPeerAdapter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708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onsolas"/>
              </a:defRPr>
            </a:pPr>
            <a:r>
              <a:t>Layout: item_history_peer.xml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6451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Peer name + Reconnect button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8828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OnPeerClickListener callback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12064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OnReconnectClickListener callback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35838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Shows 'Connect' for online history peers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Service &amp;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557784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57784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Calibri"/>
              </a:defRPr>
            </a:pPr>
            <a:r>
              <a:t>FileTransferService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212080" cy="36576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4846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 dirty="0">
                <a:solidFill>
                  <a:srgbClr val="AF00DB"/>
                </a:solidFill>
                <a:latin typeface="Consolas"/>
              </a:rPr>
              <a:t>public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class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FileTransferService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 dirty="0">
                <a:solidFill>
                  <a:srgbClr val="AF00DB"/>
                </a:solidFill>
                <a:latin typeface="Consolas"/>
              </a:rPr>
              <a:t>extends</a:t>
            </a:r>
            <a:r>
              <a:rPr sz="11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 dirty="0" err="1">
                <a:solidFill>
                  <a:srgbClr val="267F99"/>
                </a:solidFill>
                <a:latin typeface="Consolas"/>
              </a:rPr>
              <a:t>LifecycleService</a:t>
            </a:r>
            <a:endParaRPr sz="1100" b="0" dirty="0">
              <a:solidFill>
                <a:srgbClr val="267F99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Foreground service (foregroundServiceType=dataSync)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startForeground() within 5s (API 34+ requirement)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NotificationCompat + NotificationChannel (API 26+)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ExecutorService for background file I/O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1A73E8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Parcelable extras (FileMetadata via Intent)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57784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5577840" cy="45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97B"/>
                </a:solidFill>
                <a:latin typeface="Calibri"/>
              </a:defRPr>
            </a:pPr>
            <a:r>
              <a:t>FileStorageManager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Calibri"/>
              </a:defRPr>
            </a:pPr>
            <a:r>
              <a:t>Scoped Storage adaptation by API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API 29+: MediaStore.Downloads + IS_PENDING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API 24-28: Environment.DIRECTORY_DOWNLOADS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ContentResolver.insert() + openOutputStream()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Atomic publish (IS_PENDING 1 -&gt; 0)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Unique file naming with (1), (2)... suffixes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977639"/>
            <a:ext cx="557784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57784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C00"/>
                </a:solidFill>
                <a:latin typeface="Calibri"/>
              </a:defRPr>
            </a:pPr>
            <a:r>
              <a:t>ChatHistoryManager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Calibri"/>
              </a:defRPr>
            </a:pPr>
            <a:r>
              <a:t>SharedPreferences + JSON serialization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Key = "history_" + peerDeviceName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JSONArray / JSONObject (manual serialization)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Persists: type, sender, text, timestamp, fileMetadata, savedUri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Max 200 messages per peer (FIFO trimming)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E65C0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updateFileUri() for deferred file URI updates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77639"/>
            <a:ext cx="557784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977639"/>
            <a:ext cx="5577840" cy="457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C6BC0"/>
                </a:solidFill>
                <a:latin typeface="Calibri"/>
              </a:defRPr>
            </a:pPr>
            <a:r>
              <a:t>SharedDriveRepository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Calibri"/>
              </a:defRPr>
            </a:pPr>
            <a:r>
              <a:t>Firebase Cloud Storage + Firestore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Two-phase upload: Storage -&gt; Firestore metadata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Real-time Firestore snapshot listener (no polling)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UUID-based unique storage paths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Upload progress callback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 b="1">
                <a:solidFill>
                  <a:srgbClr val="5C6BC0"/>
                </a:solidFill>
                <a:latin typeface="Calibri"/>
              </a:rPr>
              <a:t>  ▸  </a:t>
            </a:r>
            <a:r>
              <a:rPr sz="1200">
                <a:solidFill>
                  <a:srgbClr val="3C4043"/>
                </a:solidFill>
                <a:latin typeface="Calibri"/>
              </a:rPr>
              <a:t>Delete from both Storage and Firestore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Model Classes (5)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t>Data layer  |  Parcelable for Intent passing  |  Wire serialization for Nearby Connections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370332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0332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Calibri"/>
              </a:defRPr>
            </a:pPr>
            <a:r>
              <a:t>DeviceInfo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3520440" cy="214884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315468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AF00DB"/>
                </a:solidFill>
                <a:latin typeface="Consolas"/>
              </a:rPr>
              <a:t>public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class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DeviceInfo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endpointId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deviceName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boolean</a:t>
            </a:r>
            <a:r>
              <a:rPr sz="1100" b="0">
                <a:solidFill>
                  <a:srgbClr val="333333"/>
                </a:solidFill>
                <a:latin typeface="Consolas"/>
              </a:rPr>
              <a:t> connected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234440"/>
            <a:ext cx="370332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234440"/>
            <a:ext cx="3703320" cy="45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307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Calibri"/>
              </a:defRPr>
            </a:pPr>
            <a:r>
              <a:t>FileMetadata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645920"/>
            <a:ext cx="3520440" cy="214884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755648"/>
            <a:ext cx="315468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AF00DB"/>
                </a:solidFill>
                <a:latin typeface="Consolas"/>
              </a:rPr>
              <a:t>public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class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FileMetadata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implements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Parcelable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fileName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mimeType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long</a:t>
            </a:r>
            <a:r>
              <a:rPr sz="1100" b="0">
                <a:solidFill>
                  <a:srgbClr val="333333"/>
                </a:solidFill>
                <a:latin typeface="Consolas"/>
              </a:rPr>
              <a:t> fileSize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    // "FILE|name|mime|size"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byte</a:t>
            </a:r>
            <a:r>
              <a:rPr sz="1100" b="0">
                <a:solidFill>
                  <a:srgbClr val="000000"/>
                </a:solidFill>
                <a:latin typeface="Consolas"/>
              </a:rPr>
              <a:t>[]</a:t>
            </a:r>
            <a:r>
              <a:rPr sz="1100" b="0">
                <a:solidFill>
                  <a:srgbClr val="333333"/>
                </a:solidFill>
                <a:latin typeface="Consolas"/>
              </a:rPr>
              <a:t> toBytes</a:t>
            </a:r>
            <a:r>
              <a:rPr sz="1100" b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static</a:t>
            </a:r>
            <a:r>
              <a:rPr sz="1100" b="0">
                <a:solidFill>
                  <a:srgbClr val="333333"/>
                </a:solidFill>
                <a:latin typeface="Consolas"/>
              </a:rPr>
              <a:t> fromBytes</a:t>
            </a:r>
            <a:r>
              <a:rPr sz="1100" b="0">
                <a:solidFill>
                  <a:srgbClr val="000000"/>
                </a:solidFill>
                <a:latin typeface="Consolas"/>
              </a:rPr>
              <a:t>(</a:t>
            </a:r>
            <a:r>
              <a:rPr sz="1100" b="0">
                <a:solidFill>
                  <a:srgbClr val="333333"/>
                </a:solidFill>
                <a:latin typeface="Consolas"/>
              </a:rPr>
              <a:t>byte</a:t>
            </a:r>
            <a:r>
              <a:rPr sz="1100" b="0">
                <a:solidFill>
                  <a:srgbClr val="000000"/>
                </a:solidFill>
                <a:latin typeface="Consolas"/>
              </a:rPr>
              <a:t>[]);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703320" cy="2697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370332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80" y="1307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C00"/>
                </a:solidFill>
                <a:latin typeface="Calibri"/>
              </a:defRPr>
            </a:pPr>
            <a:r>
              <a:t>TransferProgress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520440" cy="214884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755648"/>
            <a:ext cx="315468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AF00DB"/>
                </a:solidFill>
                <a:latin typeface="Consolas"/>
              </a:rPr>
              <a:t>public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class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TransferProgress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implements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Parcelable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fileName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long</a:t>
            </a:r>
            <a:r>
              <a:rPr sz="1100" b="0">
                <a:solidFill>
                  <a:srgbClr val="333333"/>
                </a:solidFill>
                <a:latin typeface="Consolas"/>
              </a:rPr>
              <a:t> bytesTransferred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totalBytes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enum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Status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    </a:t>
            </a:r>
            <a:r>
              <a:rPr sz="1100" b="0">
                <a:solidFill>
                  <a:srgbClr val="267F99"/>
                </a:solidFill>
                <a:latin typeface="Consolas"/>
              </a:rPr>
              <a:t>IN_PROGRESS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DONE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FAILED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int</a:t>
            </a:r>
            <a:r>
              <a:rPr sz="1100" b="0">
                <a:solidFill>
                  <a:srgbClr val="333333"/>
                </a:solidFill>
                <a:latin typeface="Consolas"/>
              </a:rPr>
              <a:t> getProgressPercent</a:t>
            </a:r>
            <a:r>
              <a:rPr sz="1100" b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114800"/>
            <a:ext cx="370332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114800"/>
            <a:ext cx="3703320" cy="457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C6BC0"/>
                </a:solidFill>
                <a:latin typeface="Calibri"/>
              </a:defRPr>
            </a:pPr>
            <a:r>
              <a:t>ChatMessage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2628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636008"/>
            <a:ext cx="31546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AF00DB"/>
                </a:solidFill>
                <a:latin typeface="Consolas"/>
              </a:rPr>
              <a:t>public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class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ChatMessage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enum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Type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TEXT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FILE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LOCATION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senderName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text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long</a:t>
            </a:r>
            <a:r>
              <a:rPr sz="1100" b="0">
                <a:solidFill>
                  <a:srgbClr val="333333"/>
                </a:solidFill>
                <a:latin typeface="Consolas"/>
              </a:rPr>
              <a:t> timestamp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boolean</a:t>
            </a:r>
            <a:r>
              <a:rPr sz="1100" b="0">
                <a:solidFill>
                  <a:srgbClr val="333333"/>
                </a:solidFill>
                <a:latin typeface="Consolas"/>
              </a:rPr>
              <a:t> outgoing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0">
                <a:solidFill>
                  <a:srgbClr val="267F99"/>
                </a:solidFill>
                <a:latin typeface="Consolas"/>
              </a:rPr>
              <a:t>FileMetadata</a:t>
            </a:r>
            <a:r>
              <a:rPr sz="1100" b="0">
                <a:solidFill>
                  <a:srgbClr val="333333"/>
                </a:solidFill>
                <a:latin typeface="Consolas"/>
              </a:rPr>
              <a:t> fileMetadata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0">
                <a:solidFill>
                  <a:srgbClr val="267F99"/>
                </a:solidFill>
                <a:latin typeface="Consolas"/>
              </a:rPr>
              <a:t>Uri</a:t>
            </a:r>
            <a:r>
              <a:rPr sz="1100" b="0">
                <a:solidFill>
                  <a:srgbClr val="333333"/>
                </a:solidFill>
                <a:latin typeface="Consolas"/>
              </a:rPr>
              <a:t> savedUri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double</a:t>
            </a:r>
            <a:r>
              <a:rPr sz="1100" b="0">
                <a:solidFill>
                  <a:srgbClr val="333333"/>
                </a:solidFill>
                <a:latin typeface="Consolas"/>
              </a:rPr>
              <a:t> latitude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longitude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4114800"/>
            <a:ext cx="3703320" cy="2606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0520" y="4114800"/>
            <a:ext cx="3703320" cy="4572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D1457"/>
                </a:solidFill>
                <a:latin typeface="Calibri"/>
              </a:defRPr>
            </a:pPr>
            <a:r>
              <a:t>SharedFile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526280"/>
            <a:ext cx="3520440" cy="205740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4636008"/>
            <a:ext cx="3154680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AF00DB"/>
                </a:solidFill>
                <a:latin typeface="Consolas"/>
              </a:rPr>
              <a:t>public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class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SharedFile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0">
                <a:solidFill>
                  <a:srgbClr val="000000"/>
                </a:solidFill>
                <a:latin typeface="Consolas"/>
              </a:rPr>
              <a:t>@</a:t>
            </a:r>
            <a:r>
              <a:rPr sz="1100" b="0">
                <a:solidFill>
                  <a:srgbClr val="267F99"/>
                </a:solidFill>
                <a:latin typeface="Consolas"/>
              </a:rPr>
              <a:t>DocumentId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fileId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fileName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downloadUrl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mimeType</a:t>
            </a:r>
            <a:r>
              <a:rPr sz="1100" b="0">
                <a:solidFill>
                  <a:srgbClr val="000000"/>
                </a:solidFill>
                <a:latin typeface="Consolas"/>
              </a:rPr>
              <a:t>,</a:t>
            </a:r>
            <a:r>
              <a:rPr sz="1100" b="0">
                <a:solidFill>
                  <a:srgbClr val="333333"/>
                </a:solidFill>
                <a:latin typeface="Consolas"/>
              </a:rPr>
              <a:t> storagePath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long</a:t>
            </a:r>
            <a:r>
              <a:rPr sz="1100" b="0">
                <a:solidFill>
                  <a:srgbClr val="333333"/>
                </a:solidFill>
                <a:latin typeface="Consolas"/>
              </a:rPr>
              <a:t> fileSize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0">
                <a:solidFill>
                  <a:srgbClr val="000000"/>
                </a:solidFill>
                <a:latin typeface="Consolas"/>
              </a:rPr>
              <a:t>@</a:t>
            </a:r>
            <a:r>
              <a:rPr sz="1100" b="0">
                <a:solidFill>
                  <a:srgbClr val="267F99"/>
                </a:solidFill>
                <a:latin typeface="Consolas"/>
              </a:rPr>
              <a:t>ServerTimestamp</a:t>
            </a:r>
            <a:r>
              <a:rPr sz="1100" b="0">
                <a:solidFill>
                  <a:srgbClr val="333333"/>
                </a:solidFill>
                <a:latin typeface="Consolas"/>
              </a:rPr>
              <a:t> </a:t>
            </a:r>
            <a:r>
              <a:rPr sz="1100" b="0">
                <a:solidFill>
                  <a:srgbClr val="267F99"/>
                </a:solidFill>
                <a:latin typeface="Consolas"/>
              </a:rPr>
              <a:t>Date</a:t>
            </a:r>
            <a:r>
              <a:rPr sz="1100" b="0">
                <a:solidFill>
                  <a:srgbClr val="333333"/>
                </a:solidFill>
                <a:latin typeface="Consolas"/>
              </a:rPr>
              <a:t> uploadedAt</a:t>
            </a:r>
            <a:r>
              <a:rPr sz="1100" b="0">
                <a:solidFill>
                  <a:srgbClr val="000000"/>
                </a:solidFill>
                <a:latin typeface="Consolas"/>
              </a:rPr>
              <a:t>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333333"/>
                </a:solidFill>
                <a:latin typeface="Consolas"/>
              </a:rPr>
              <a:t>    </a:t>
            </a:r>
            <a:r>
              <a:rPr sz="1100" b="1">
                <a:solidFill>
                  <a:srgbClr val="AF00DB"/>
                </a:solidFill>
                <a:latin typeface="Consolas"/>
              </a:rPr>
              <a:t>String</a:t>
            </a:r>
            <a:r>
              <a:rPr sz="1100" b="0">
                <a:solidFill>
                  <a:srgbClr val="333333"/>
                </a:solidFill>
                <a:latin typeface="Consolas"/>
              </a:rPr>
              <a:t> getFileSizeFormatted</a:t>
            </a:r>
            <a:r>
              <a:rPr sz="1100" b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Permissions &amp; API Level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t>15 permissions declared  |  Runtime requests via ActivityResultLauncher  |  Graceful degradation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70332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0332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73E8"/>
                </a:solidFill>
                <a:latin typeface="Calibri"/>
              </a:defRPr>
            </a:pPr>
            <a:r>
              <a:t>Nearby 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BLUETOOTH, BLUETOOTH_ADMIN (API ≤ 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BLUETOOTH_SCAN, BLUETOOTH_ADVERTISE,</a:t>
            </a:r>
            <a:br/>
            <a:r>
              <a:t>  BLUETOOTH_CONNECT (API 31+)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NEARBY_WIFI_DEVICES (API 33+, neverForLocation)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ACCESS_FINE_LOCATION (API 24-32)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ACCESS_WIFI_STATE, CHANGE_WIFI_STATE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280160"/>
            <a:ext cx="370332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280160"/>
            <a:ext cx="3703320" cy="457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97B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READ_EXTERNAL_STORAGE (API ≤ 32)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WRITE_EXTERNAL_STORAGE (API ≤ 28)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READ_MEDIA_IMAGES (API 33+)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READ_MEDIA_VIDEO (API 33+)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READ_MEDIA_FILES (API 33+)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280160"/>
            <a:ext cx="370332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370332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INTERNET, ACCESS_NETWORK_STATE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FOREGROUND_SERVICE (all APIs)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68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FOREGROUND_SERVICE_DATA_SYNC (API 34+)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POST_NOTIFICATIONS (API 33+)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▸  RECORD_AUDIO (voice messages)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389120"/>
            <a:ext cx="1161288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0242A"/>
                </a:solidFill>
                <a:latin typeface="Calibri"/>
              </a:defRPr>
            </a:pPr>
            <a:r>
              <a:t>API Level Branching in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54880"/>
            <a:ext cx="11247120" cy="173736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864608"/>
            <a:ext cx="1088136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6A9955"/>
                </a:solidFill>
                <a:latin typeface="Consolas"/>
              </a:rPr>
              <a:t>// Storage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dirty="0">
                <a:solidFill>
                  <a:srgbClr val="AF00DB"/>
                </a:solidFill>
                <a:latin typeface="Consolas"/>
              </a:rPr>
              <a:t>if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Build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VERSION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SDK_INT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&gt;=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98658"/>
                </a:solidFill>
                <a:latin typeface="Consolas"/>
              </a:rPr>
              <a:t>29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MediaStore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Downloads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+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IS_PENDING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//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scoped storage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AF00DB"/>
                </a:solidFill>
                <a:latin typeface="Consolas"/>
              </a:rPr>
              <a:t>else</a:t>
            </a:r>
            <a:r>
              <a:rPr sz="1200" b="0">
                <a:solidFill>
                  <a:srgbClr val="333333"/>
                </a:solidFill>
                <a:latin typeface="Consolas"/>
              </a:rPr>
              <a:t>                              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Environment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DIRECTORY_DOWNLOADS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  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//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direct write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latin typeface="Consolas"/>
              </a:rPr>
              <a:t>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6A9955"/>
                </a:solidFill>
                <a:latin typeface="Consolas"/>
              </a:rPr>
              <a:t>// Bluetooth permissions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dirty="0">
                <a:solidFill>
                  <a:srgbClr val="AF00DB"/>
                </a:solidFill>
                <a:latin typeface="Consolas"/>
              </a:rPr>
              <a:t>if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Build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VERSION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SDK_INT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&gt;=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98658"/>
                </a:solidFill>
                <a:latin typeface="Consolas"/>
              </a:rPr>
              <a:t>31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BLUETOOTH_SCAN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ADVERTISE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CONNECT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//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granular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dirty="0">
                <a:solidFill>
                  <a:srgbClr val="AF00DB"/>
                </a:solidFill>
                <a:latin typeface="Consolas"/>
              </a:rPr>
              <a:t>else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                           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BLUETOOTH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,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BLUETOOTH_ADMIN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        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//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legacy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latin typeface="Consolas"/>
              </a:rPr>
              <a:t>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6A9955"/>
                </a:solidFill>
                <a:latin typeface="Consolas"/>
              </a:rPr>
              <a:t>// Nearby discovery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dirty="0">
                <a:solidFill>
                  <a:srgbClr val="AF00DB"/>
                </a:solidFill>
                <a:latin typeface="Consolas"/>
              </a:rPr>
              <a:t>if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Build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VERSION</a:t>
            </a:r>
            <a:r>
              <a:rPr sz="1200" b="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sz="1200" b="0" dirty="0" err="1">
                <a:solidFill>
                  <a:srgbClr val="267F99"/>
                </a:solidFill>
                <a:latin typeface="Consolas"/>
              </a:rPr>
              <a:t>SDK_INT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&gt;=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98658"/>
                </a:solidFill>
                <a:latin typeface="Consolas"/>
              </a:rPr>
              <a:t>33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NEARBY_WIFI_DEVICES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 err="1">
                <a:solidFill>
                  <a:srgbClr val="333333"/>
                </a:solidFill>
                <a:latin typeface="Consolas"/>
              </a:rPr>
              <a:t>neverForLocation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1" dirty="0">
                <a:solidFill>
                  <a:srgbClr val="AF00DB"/>
                </a:solidFill>
                <a:latin typeface="Consolas"/>
              </a:rPr>
              <a:t>else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                            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ACCESS_FINE_LOCATION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(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required </a:t>
            </a:r>
            <a:r>
              <a:rPr sz="1200" b="1" dirty="0">
                <a:solidFill>
                  <a:srgbClr val="AF00DB"/>
                </a:solidFill>
                <a:latin typeface="Consolas"/>
              </a:rPr>
              <a:t>for</a:t>
            </a:r>
            <a:r>
              <a:rPr sz="1200" b="0" dirty="0">
                <a:solidFill>
                  <a:srgbClr val="333333"/>
                </a:solidFill>
                <a:latin typeface="Consolas"/>
              </a:rPr>
              <a:t> </a:t>
            </a:r>
            <a:r>
              <a:rPr sz="1200" b="0" dirty="0">
                <a:solidFill>
                  <a:srgbClr val="267F99"/>
                </a:solidFill>
                <a:latin typeface="Consolas"/>
              </a:rPr>
              <a:t>Nearby</a:t>
            </a:r>
            <a:r>
              <a:rPr sz="1200" b="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dirty="0">
                <a:latin typeface="Consolas"/>
              </a:rPr>
              <a:t>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 b="0" dirty="0">
                <a:solidFill>
                  <a:srgbClr val="6A9955"/>
                </a:solidFill>
                <a:latin typeface="Consolas"/>
              </a:rPr>
              <a:t>// API 36 workaround: </a:t>
            </a:r>
            <a:r>
              <a:rPr sz="1200" b="0" dirty="0" err="1">
                <a:solidFill>
                  <a:srgbClr val="6A9955"/>
                </a:solidFill>
                <a:latin typeface="Consolas"/>
              </a:rPr>
              <a:t>Payload.fromFile</a:t>
            </a:r>
            <a:r>
              <a:rPr sz="1200" b="0" dirty="0">
                <a:solidFill>
                  <a:srgbClr val="6A9955"/>
                </a:solidFill>
                <a:latin typeface="Consolas"/>
              </a:rPr>
              <a:t>() broken -&gt; CHATFILE BYTES payload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Android Components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11430000" cy="347472"/>
          </a:xfrm>
          <a:prstGeom prst="roundRect">
            <a:avLst>
              <a:gd name="adj" fmla="val 3000"/>
            </a:avLst>
          </a:prstGeom>
          <a:solidFill>
            <a:srgbClr val="1A73E8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0789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789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Techniques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4447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447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AppCompatActivity, FragmentContainerView, BottomNavigationView, configChanges, Intent extras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37944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8653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Fragment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8653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653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Fragment lifecycle, Bundle arguments, FragmentManager back stack, onDestroyView cleanup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258568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86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LifecycleService, Foreground service, NotificationChannel, Parcelable Intent extras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679192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7066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RecyclerView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70662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70662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ViewHolder pattern, 2 view types (ChatAdapter), MaterialCardView, click callbacks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99816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127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ContentProvider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1272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1272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FileProvider for sharing cached files (API 24+)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520440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5478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Nearby Connections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3547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547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P2P_CLUSTER, advertise/discover, BYTES payloads, PayloadCallback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941064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9684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39684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96849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Firestore real-time listeners, Cloud Storage upload/download, UUID paths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361688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SharedPreferences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4389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JSON serialization, per-peer chat history, device name persistence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82312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48097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MediaRecorder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06040" y="48097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809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Audio recording (AAC/MPEG_4), temp file, sent via Nearby BYTES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202936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5230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MediaPlayer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52303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230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Voice playback, prepareAsync + OnPreparedListener, error handling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" y="5623560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56509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LocationServices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56509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6509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FusedLocationProviderClient, GPS coordinates, shared via Nearby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6044184"/>
            <a:ext cx="11430000" cy="402336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60716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42A"/>
                </a:solidFill>
                <a:latin typeface="Calibri"/>
              </a:defRPr>
            </a:pPr>
            <a:r>
              <a:t>OSMDroid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60716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024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60716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4043"/>
                </a:solidFill>
                <a:latin typeface="Calibri"/>
              </a:defRPr>
            </a:pPr>
            <a:r>
              <a:t>MapView, Marker/Polyline overlays, OSRM API routes, MyLocationOverlay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Class Hierarchy &amp; Package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11430000" cy="557784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2700">
            <a:solidFill>
              <a:srgbClr val="E0E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69848"/>
            <a:ext cx="11064240" cy="5358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com</a:t>
            </a:r>
            <a:r>
              <a:rPr sz="1300" b="0">
                <a:solidFill>
                  <a:srgbClr val="000000"/>
                </a:solidFill>
                <a:latin typeface="Consolas"/>
              </a:rPr>
              <a:t>.</a:t>
            </a:r>
            <a:r>
              <a:rPr sz="1300" b="0">
                <a:solidFill>
                  <a:srgbClr val="333333"/>
                </a:solidFill>
                <a:latin typeface="Consolas"/>
              </a:rPr>
              <a:t>example</a:t>
            </a:r>
            <a:r>
              <a:rPr sz="1300" b="0">
                <a:solidFill>
                  <a:srgbClr val="000000"/>
                </a:solidFill>
                <a:latin typeface="Consolas"/>
              </a:rPr>
              <a:t>.</a:t>
            </a:r>
            <a:r>
              <a:rPr sz="1300" b="0">
                <a:solidFill>
                  <a:srgbClr val="333333"/>
                </a:solidFill>
                <a:latin typeface="Consolas"/>
              </a:rPr>
              <a:t>csci3310_airdrop_proj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MainActivity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AppCompatActivity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implements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ConnectionListener</a:t>
            </a:r>
            <a:r>
              <a:rPr sz="1300" b="0">
                <a:solidFill>
                  <a:srgbClr val="000000"/>
                </a:solidFill>
                <a:latin typeface="Consolas"/>
              </a:rPr>
              <a:t>,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TransferListener</a:t>
            </a:r>
            <a:r>
              <a:rPr sz="1300" b="0">
                <a:solidFill>
                  <a:srgbClr val="000000"/>
                </a:solidFill>
                <a:latin typeface="Consolas"/>
              </a:rPr>
              <a:t>,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ChatListener</a:t>
            </a:r>
            <a:r>
              <a:rPr sz="1300" b="0">
                <a:solidFill>
                  <a:srgbClr val="000000"/>
                </a:solidFill>
                <a:latin typeface="Consolas"/>
              </a:rPr>
              <a:t>,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 </a:t>
            </a:r>
            <a:r>
              <a:rPr sz="1300" b="0">
                <a:solidFill>
                  <a:srgbClr val="267F99"/>
                </a:solidFill>
                <a:latin typeface="Consolas"/>
              </a:rPr>
              <a:t>OnFileSavedCallback</a:t>
            </a:r>
            <a:r>
              <a:rPr sz="1300" b="0">
                <a:solidFill>
                  <a:srgbClr val="000000"/>
                </a:solidFill>
                <a:latin typeface="Consolas"/>
              </a:rPr>
              <a:t>,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ChatFileReceivedCallback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ui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MapActivity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AppCompatActivity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fragment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FileListFragment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Shared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Drive</a:t>
            </a:r>
            <a:r>
              <a:rPr sz="1300" b="0">
                <a:solidFill>
                  <a:srgbClr val="333333"/>
                </a:solidFill>
                <a:latin typeface="Consolas"/>
              </a:rPr>
              <a:t> list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SendModeFragment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Upload</a:t>
            </a:r>
            <a:r>
              <a:rPr sz="1300" b="0">
                <a:solidFill>
                  <a:srgbClr val="333333"/>
                </a:solidFill>
                <a:latin typeface="Consolas"/>
              </a:rPr>
              <a:t> to </a:t>
            </a:r>
            <a:r>
              <a:rPr sz="1300" b="0">
                <a:solidFill>
                  <a:srgbClr val="267F99"/>
                </a:solidFill>
                <a:latin typeface="Consolas"/>
              </a:rPr>
              <a:t>Firebase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DeviceDiscoveryFragment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Nearby</a:t>
            </a:r>
            <a:r>
              <a:rPr sz="1300" b="0">
                <a:solidFill>
                  <a:srgbClr val="333333"/>
                </a:solidFill>
                <a:latin typeface="Consolas"/>
              </a:rPr>
              <a:t> device list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ChatRoomFragment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UI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000000"/>
                </a:solidFill>
                <a:latin typeface="Consolas"/>
              </a:rPr>
              <a:t>+</a:t>
            </a:r>
            <a:r>
              <a:rPr sz="1300" b="0">
                <a:solidFill>
                  <a:srgbClr val="333333"/>
                </a:solidFill>
                <a:latin typeface="Consolas"/>
              </a:rPr>
              <a:t> voice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ChatDeviceListFragment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Fragment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</a:t>
            </a:r>
            <a:r>
              <a:rPr sz="1300" b="0">
                <a:solidFill>
                  <a:srgbClr val="333333"/>
                </a:solidFill>
                <a:latin typeface="Consolas"/>
              </a:rPr>
              <a:t> lobby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adapter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ChatAdapter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RecyclerView</a:t>
            </a:r>
            <a:r>
              <a:rPr sz="1300" b="0">
                <a:solidFill>
                  <a:srgbClr val="000000"/>
                </a:solidFill>
                <a:latin typeface="Consolas"/>
              </a:rPr>
              <a:t>.</a:t>
            </a:r>
            <a:r>
              <a:rPr sz="1300" b="0">
                <a:solidFill>
                  <a:srgbClr val="267F99"/>
                </a:solidFill>
                <a:latin typeface="Consolas"/>
              </a:rPr>
              <a:t>Adapter</a:t>
            </a:r>
            <a:r>
              <a:rPr sz="1300" b="0">
                <a:solidFill>
                  <a:srgbClr val="000000"/>
                </a:solidFill>
                <a:latin typeface="Consolas"/>
              </a:rPr>
              <a:t>&lt;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ChatViewHolder</a:t>
            </a:r>
            <a:r>
              <a:rPr sz="1300" b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DeviceAdapter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RecyclerView</a:t>
            </a:r>
            <a:r>
              <a:rPr sz="1300" b="0">
                <a:solidFill>
                  <a:srgbClr val="000000"/>
                </a:solidFill>
                <a:latin typeface="Consolas"/>
              </a:rPr>
              <a:t>.</a:t>
            </a:r>
            <a:r>
              <a:rPr sz="1300" b="0">
                <a:solidFill>
                  <a:srgbClr val="267F99"/>
                </a:solidFill>
                <a:latin typeface="Consolas"/>
              </a:rPr>
              <a:t>Adapter</a:t>
            </a:r>
            <a:r>
              <a:rPr sz="1300" b="0">
                <a:solidFill>
                  <a:srgbClr val="000000"/>
                </a:solidFill>
                <a:latin typeface="Consolas"/>
              </a:rPr>
              <a:t>&lt;</a:t>
            </a:r>
            <a:r>
              <a:rPr sz="1300" b="0">
                <a:solidFill>
                  <a:srgbClr val="267F99"/>
                </a:solidFill>
                <a:latin typeface="Consolas"/>
              </a:rPr>
              <a:t>DeviceViewHolder</a:t>
            </a:r>
            <a:r>
              <a:rPr sz="1300" b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FileListAdapter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RecyclerView</a:t>
            </a:r>
            <a:r>
              <a:rPr sz="1300" b="0">
                <a:solidFill>
                  <a:srgbClr val="000000"/>
                </a:solidFill>
                <a:latin typeface="Consolas"/>
              </a:rPr>
              <a:t>.</a:t>
            </a:r>
            <a:r>
              <a:rPr sz="1300" b="0">
                <a:solidFill>
                  <a:srgbClr val="267F99"/>
                </a:solidFill>
                <a:latin typeface="Consolas"/>
              </a:rPr>
              <a:t>Adapter</a:t>
            </a:r>
            <a:r>
              <a:rPr sz="1300" b="0">
                <a:solidFill>
                  <a:srgbClr val="000000"/>
                </a:solidFill>
                <a:latin typeface="Consolas"/>
              </a:rPr>
              <a:t>&lt;</a:t>
            </a:r>
            <a:r>
              <a:rPr sz="1300" b="0">
                <a:solidFill>
                  <a:srgbClr val="267F99"/>
                </a:solidFill>
                <a:latin typeface="Consolas"/>
              </a:rPr>
              <a:t>FileViewHolder</a:t>
            </a:r>
            <a:r>
              <a:rPr sz="1300" b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HistoryPeerAdapter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RecyclerView</a:t>
            </a:r>
            <a:r>
              <a:rPr sz="1300" b="0">
                <a:solidFill>
                  <a:srgbClr val="000000"/>
                </a:solidFill>
                <a:latin typeface="Consolas"/>
              </a:rPr>
              <a:t>.</a:t>
            </a:r>
            <a:r>
              <a:rPr sz="1300" b="0">
                <a:solidFill>
                  <a:srgbClr val="267F99"/>
                </a:solidFill>
                <a:latin typeface="Consolas"/>
              </a:rPr>
              <a:t>Adapter</a:t>
            </a:r>
            <a:r>
              <a:rPr sz="1300" b="0">
                <a:solidFill>
                  <a:srgbClr val="000000"/>
                </a:solidFill>
                <a:latin typeface="Consolas"/>
              </a:rPr>
              <a:t>&lt;</a:t>
            </a:r>
            <a:r>
              <a:rPr sz="1300" b="0">
                <a:solidFill>
                  <a:srgbClr val="267F99"/>
                </a:solidFill>
                <a:latin typeface="Consolas"/>
              </a:rPr>
              <a:t>PeerViewHolder</a:t>
            </a:r>
            <a:r>
              <a:rPr sz="1300" b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network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NearbyConnectionsManager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Nearby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Connections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API</a:t>
            </a:r>
            <a:r>
              <a:rPr sz="1300" b="0">
                <a:solidFill>
                  <a:srgbClr val="333333"/>
                </a:solidFill>
                <a:latin typeface="Consolas"/>
              </a:rPr>
              <a:t> wrapper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TransferEventBus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098658"/>
                </a:solidFill>
                <a:latin typeface="Consolas"/>
              </a:rPr>
              <a:t>3</a:t>
            </a:r>
            <a:r>
              <a:rPr sz="1300" b="0">
                <a:solidFill>
                  <a:srgbClr val="333333"/>
                </a:solidFill>
                <a:latin typeface="Consolas"/>
              </a:rPr>
              <a:t> callback interfaces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service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FileTransferService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extends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LifecycleService</a:t>
            </a:r>
            <a:r>
              <a:rPr sz="1300" b="0">
                <a:solidFill>
                  <a:srgbClr val="333333"/>
                </a:solidFill>
                <a:latin typeface="Consolas"/>
              </a:rPr>
              <a:t>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foreground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storage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FileStorageManager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MediaStore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Downloads</a:t>
            </a:r>
            <a:r>
              <a:rPr sz="1300" b="0">
                <a:solidFill>
                  <a:srgbClr val="333333"/>
                </a:solidFill>
                <a:latin typeface="Consolas"/>
              </a:rPr>
              <a:t> save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ChatHistoryManager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SharedPreferences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000000"/>
                </a:solidFill>
                <a:latin typeface="Consolas"/>
              </a:rPr>
              <a:t>+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JSON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repository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  <a:r>
              <a:rPr sz="1300" b="0">
                <a:solidFill>
                  <a:srgbClr val="333333"/>
                </a:solidFill>
                <a:latin typeface="Consolas"/>
              </a:rPr>
              <a:t>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SharedDriveRepository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Firebase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Storage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000000"/>
                </a:solidFill>
                <a:latin typeface="Consolas"/>
              </a:rPr>
              <a:t>+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Firestore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|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model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DeviceInfo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POJO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FileMetadata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implements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Parcelable</a:t>
            </a:r>
            <a:r>
              <a:rPr sz="1300" b="0">
                <a:solidFill>
                  <a:srgbClr val="333333"/>
                </a:solidFill>
                <a:latin typeface="Consolas"/>
              </a:rPr>
              <a:t>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toBytes</a:t>
            </a:r>
            <a:r>
              <a:rPr sz="1300" b="0">
                <a:solidFill>
                  <a:srgbClr val="000000"/>
                </a:solidFill>
                <a:latin typeface="Consolas"/>
              </a:rPr>
              <a:t>/</a:t>
            </a:r>
            <a:r>
              <a:rPr sz="1300" b="0">
                <a:solidFill>
                  <a:srgbClr val="333333"/>
                </a:solidFill>
                <a:latin typeface="Consolas"/>
              </a:rPr>
              <a:t>fromBytes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TransferProgress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</a:t>
            </a:r>
            <a:r>
              <a:rPr sz="1300" b="1">
                <a:solidFill>
                  <a:srgbClr val="AF00DB"/>
                </a:solidFill>
                <a:latin typeface="Consolas"/>
              </a:rPr>
              <a:t>implements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Parcelable</a:t>
            </a:r>
            <a:r>
              <a:rPr sz="1300" b="0">
                <a:solidFill>
                  <a:srgbClr val="333333"/>
                </a:solidFill>
                <a:latin typeface="Consolas"/>
              </a:rPr>
              <a:t>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status </a:t>
            </a:r>
            <a:r>
              <a:rPr sz="1300" b="1">
                <a:solidFill>
                  <a:srgbClr val="AF00DB"/>
                </a:solidFill>
                <a:latin typeface="Consolas"/>
              </a:rPr>
              <a:t>enum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ChatMessage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POJO</a:t>
            </a:r>
            <a:r>
              <a:rPr sz="1300" b="0">
                <a:solidFill>
                  <a:srgbClr val="000000"/>
                </a:solidFill>
                <a:latin typeface="Consolas"/>
              </a:rPr>
              <a:t>,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Type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AF00DB"/>
                </a:solidFill>
                <a:latin typeface="Consolas"/>
              </a:rPr>
              <a:t>enum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+--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267F99"/>
                </a:solidFill>
                <a:latin typeface="Consolas"/>
              </a:rPr>
              <a:t>SharedFile</a:t>
            </a:r>
            <a:r>
              <a:rPr sz="1300" b="0">
                <a:solidFill>
                  <a:srgbClr val="333333"/>
                </a:solidFill>
                <a:latin typeface="Consolas"/>
              </a:rPr>
              <a:t>                     </a:t>
            </a:r>
            <a:r>
              <a:rPr sz="1300" b="0">
                <a:solidFill>
                  <a:srgbClr val="000000"/>
                </a:solidFill>
                <a:latin typeface="Consolas"/>
              </a:rPr>
              <a:t>//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000000"/>
                </a:solidFill>
                <a:latin typeface="Consolas"/>
              </a:rPr>
              <a:t>@</a:t>
            </a:r>
            <a:r>
              <a:rPr sz="1300" b="0">
                <a:solidFill>
                  <a:srgbClr val="267F99"/>
                </a:solidFill>
                <a:latin typeface="Consolas"/>
              </a:rPr>
              <a:t>DocumentId</a:t>
            </a:r>
            <a:r>
              <a:rPr sz="1300" b="0">
                <a:solidFill>
                  <a:srgbClr val="000000"/>
                </a:solidFill>
                <a:latin typeface="Consolas"/>
              </a:rPr>
              <a:t>,</a:t>
            </a:r>
            <a:r>
              <a:rPr sz="1300" b="0">
                <a:solidFill>
                  <a:srgbClr val="333333"/>
                </a:solidFill>
                <a:latin typeface="Consolas"/>
              </a:rPr>
              <a:t> </a:t>
            </a:r>
            <a:r>
              <a:rPr sz="1300" b="0">
                <a:solidFill>
                  <a:srgbClr val="000000"/>
                </a:solidFill>
                <a:latin typeface="Consolas"/>
              </a:rPr>
              <a:t>@</a:t>
            </a:r>
            <a:r>
              <a:rPr sz="1300" b="0">
                <a:solidFill>
                  <a:srgbClr val="267F99"/>
                </a:solidFill>
                <a:latin typeface="Consolas"/>
              </a:rPr>
              <a:t>ServerTimestamp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42A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996696"/>
            <a:ext cx="365760" cy="36576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149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966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C6BC0"/>
                </a:solidFill>
                <a:latin typeface="Calibri"/>
              </a:defRPr>
            </a:pPr>
            <a:r>
              <a:t>Shared 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2412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Upload file to Firebase Storage → appears in real-time on all devices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618488"/>
            <a:ext cx="365760" cy="3657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18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73E8"/>
                </a:solidFill>
                <a:latin typeface="Calibri"/>
              </a:defRPr>
            </a:pPr>
            <a:r>
              <a:t>Device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Both devices advertise + discover → device list populates automatically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58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97B"/>
                </a:solidFill>
                <a:latin typeface="Calibri"/>
              </a:defRPr>
            </a:pPr>
            <a:r>
              <a:t>Chat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6771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Tap device → invitation dialog on receiver → Accept → chat room opens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862072"/>
            <a:ext cx="365760" cy="365760"/>
          </a:xfrm>
          <a:prstGeom prst="ellipse">
            <a:avLst/>
          </a:prstGeom>
          <a:solidFill>
            <a:srgbClr val="20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8620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0242A"/>
                </a:solidFill>
                <a:latin typeface="Calibri"/>
              </a:defRPr>
            </a:pPr>
            <a:r>
              <a:t>Text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889504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Send text messages → appear instantly on both sides via BYTES payloads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483864"/>
            <a:ext cx="365760" cy="365760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838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Image Sharing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11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Send image → inline thumbnail preview → tap for fullscreen dialog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105656"/>
            <a:ext cx="365760" cy="365760"/>
          </a:xfrm>
          <a:prstGeom prst="ellipse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1239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1056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D1457"/>
                </a:solidFill>
                <a:latin typeface="Calibri"/>
              </a:defRPr>
            </a:pPr>
            <a:r>
              <a:t>Voice 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13308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Hold record button → release → voice sent → Play button on receiver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72744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457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727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Calibri"/>
              </a:defRPr>
            </a:pPr>
            <a:r>
              <a:t>Location Sharing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7548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Tap location button → GPS coordinates sent → Open Map button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349240"/>
            <a:ext cx="365760" cy="36576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367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897B"/>
                </a:solidFill>
                <a:latin typeface="Calibri"/>
              </a:defRPr>
            </a:pPr>
            <a:r>
              <a:t>Map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37667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OSMDroid map → current location overlay → walking route to shared location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971032"/>
            <a:ext cx="365760" cy="365760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9710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5C00"/>
                </a:solidFill>
                <a:latin typeface="Calibri"/>
              </a:defRPr>
            </a:pPr>
            <a:r>
              <a:t>Chat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998464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4043"/>
                </a:solidFill>
                <a:latin typeface="Calibri"/>
              </a:defRPr>
            </a:pPr>
            <a:r>
              <a:t>Quit chat → reopen → all messages preserved (text + images + voice)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BDEFB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F6368"/>
                </a:solidFill>
                <a:latin typeface="Calibri"/>
              </a:defRPr>
            </a:pPr>
            <a:r>
              <a:t>DroidDrop  |  CSCI3310 Mobile Computing  |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2433</Words>
  <Application>Microsoft Macintosh PowerPoint</Application>
  <PresentationFormat>Widescreen</PresentationFormat>
  <Paragraphs>415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SIN, Yik</cp:lastModifiedBy>
  <cp:revision>2</cp:revision>
  <dcterms:created xsi:type="dcterms:W3CDTF">2013-01-27T09:14:16Z</dcterms:created>
  <dcterms:modified xsi:type="dcterms:W3CDTF">2026-04-05T16:03:45Z</dcterms:modified>
  <cp:category/>
</cp:coreProperties>
</file>